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27598B"/>
                </a:solidFill>
                <a:latin typeface="DejaVu Sans"/>
              </a:defRPr>
            </a:pPr>
            <a:r>
              <a:t>Семифокусная модель супервизии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830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69538"/>
                </a:solidFill>
                <a:latin typeface="DejaVu Sans"/>
              </a:defRPr>
            </a:pPr>
            <a:r>
              <a:t>для православных психологов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395728"/>
            <a:ext cx="9509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B6876"/>
                </a:solidFill>
                <a:latin typeface="DejaVu Sans"/>
              </a:defRPr>
            </a:pPr>
            <a:r>
              <a:t>На основе шестифокусной модели супервизии и пентаграммы Гингера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3280867"/>
            <a:ext cx="0" cy="844905"/>
          </a:xfrm>
          <a:prstGeom prst="line">
            <a:avLst/>
          </a:prstGeom>
          <a:ln w="38100">
            <a:solidFill>
              <a:srgbClr val="C69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09183" y="3582619"/>
            <a:ext cx="543153" cy="0"/>
          </a:xfrm>
          <a:prstGeom prst="line">
            <a:avLst/>
          </a:prstGeom>
          <a:ln w="38100">
            <a:solidFill>
              <a:srgbClr val="C69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4983480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32F3E"/>
                </a:solidFill>
                <a:latin typeface="DejaVu Sans"/>
              </a:defRPr>
            </a:pPr>
            <a:r>
              <a:t>Профессиональная поддержка, духовное внимание и безопасность клиента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Основная идея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Супервизия как пространство профессионального различения и духовной трезвости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520440" cy="352044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73152" cy="352044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37360"/>
            <a:ext cx="3136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598B"/>
                </a:solidFill>
                <a:latin typeface="DejaVu Sans"/>
              </a:defRPr>
            </a:pPr>
            <a:r>
              <a:t>Профессиональное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148840"/>
            <a:ext cx="313639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F3E"/>
                </a:solidFill>
                <a:latin typeface="DejaVu Sans"/>
              </a:defRPr>
            </a:pPr>
            <a:r>
              <a:t>Разбор практики, гипотез, этики, границ, качества помощи и безопасности клиента.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520440" cy="3520440"/>
          </a:xfrm>
          <a:prstGeom prst="roundRect">
            <a:avLst/>
          </a:prstGeom>
          <a:solidFill>
            <a:srgbClr val="E6F4EC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73152" cy="3520440"/>
          </a:xfrm>
          <a:prstGeom prst="rect">
            <a:avLst/>
          </a:prstGeom>
          <a:solidFill>
            <a:srgbClr val="498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737360"/>
            <a:ext cx="3136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8768"/>
                </a:solidFill>
                <a:latin typeface="DejaVu Sans"/>
              </a:defRPr>
            </a:pPr>
            <a:r>
              <a:t>Личностное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148840"/>
            <a:ext cx="313639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F3E"/>
                </a:solidFill>
                <a:latin typeface="DejaVu Sans"/>
              </a:defRPr>
            </a:pPr>
            <a:r>
              <a:t>Осознавание реакций терапевта, контрпереноса, уязвимостей, ресурсов и риска выгорания.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00200"/>
            <a:ext cx="3520440" cy="3520440"/>
          </a:xfrm>
          <a:prstGeom prst="roundRect">
            <a:avLst/>
          </a:prstGeom>
          <a:solidFill>
            <a:srgbClr val="FDF5E2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600200"/>
            <a:ext cx="73152" cy="3520440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737360"/>
            <a:ext cx="3136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69538"/>
                </a:solidFill>
                <a:latin typeface="DejaVu Sans"/>
              </a:defRPr>
            </a:pPr>
            <a:r>
              <a:t>Духовное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148840"/>
            <a:ext cx="313639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F3E"/>
                </a:solidFill>
                <a:latin typeface="DejaVu Sans"/>
              </a:defRPr>
            </a:pPr>
            <a:r>
              <a:t>Христоцентрирование работы, молитвенная поддержка и различение без подмены терапии духовничеством.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Духовное окормление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Пастырское руководство не заменяет супервизию, но задает духовный контекст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10652760" cy="2788920"/>
          </a:xfrm>
          <a:prstGeom prst="roundRect">
            <a:avLst/>
          </a:prstGeom>
          <a:solidFill>
            <a:srgbClr val="FDF5E2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73152" cy="2788920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709928"/>
            <a:ext cx="10268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69538"/>
                </a:solidFill>
                <a:latin typeface="DejaVu Sans"/>
              </a:defRPr>
            </a:pPr>
            <a:r>
              <a:t>Определение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21408"/>
            <a:ext cx="102687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F3E"/>
                </a:solidFill>
                <a:latin typeface="DejaVu Sans"/>
              </a:defRPr>
            </a:pPr>
            <a:r>
              <a:t>Духовное окормление — это пастырское руководство, наставничество и забота священника (духовника) о спасении души верующего психолога. Оно включает молитвенную поддержку, советы в духовной жизни и регулярные встречи для разрешения внутренних вопросов.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617720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32F3E"/>
                </a:solidFill>
                <a:latin typeface="DejaVu Sans"/>
              </a:defRPr>
            </a:pPr>
            <a:r>
              <a:t>• Духовник помогает видеть труд не только как технику, но и как служение.</a:t>
            </a:r>
          </a:p>
          <a:p>
            <a:pPr>
              <a:spcAft>
                <a:spcPts val="800"/>
              </a:spcAft>
              <a:defRPr sz="1350">
                <a:solidFill>
                  <a:srgbClr val="232F3E"/>
                </a:solidFill>
                <a:latin typeface="DejaVu Sans"/>
              </a:defRPr>
            </a:pPr>
            <a:r>
              <a:t>• Психолог сохраняет профессиональные границы и ответственность перед клиентом.</a:t>
            </a:r>
          </a:p>
          <a:p>
            <a:pPr>
              <a:spcAft>
                <a:spcPts val="800"/>
              </a:spcAft>
              <a:defRPr sz="1350">
                <a:solidFill>
                  <a:srgbClr val="232F3E"/>
                </a:solidFill>
                <a:latin typeface="DejaVu Sans"/>
              </a:defRPr>
            </a:pPr>
            <a:r>
              <a:t>• Соборность не отменяет компетентности, этики и клинического мышления.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Что такое супервизия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Метод профессиональной поддержки и контроля качества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257800" cy="416052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73152" cy="416052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645919"/>
            <a:ext cx="4873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598B"/>
                </a:solidFill>
                <a:latin typeface="DejaVu Sans"/>
              </a:defRPr>
            </a:pPr>
            <a:r>
              <a:t>Супервизия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057400"/>
            <a:ext cx="48737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0">
                <a:solidFill>
                  <a:srgbClr val="232F3E"/>
                </a:solidFill>
                <a:latin typeface="DejaVu Sans"/>
              </a:defRPr>
            </a:pPr>
            <a:r>
              <a:t>Практикующий специалист разбирает свою работу с более опытным коллегой — супервизором. Это помогает повышать качество работы, анализировать сложные случаи, избегать выгорания и обеспечивать безопасность клиента.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4160520"/>
          </a:xfrm>
          <a:prstGeom prst="roundRect">
            <a:avLst/>
          </a:prstGeom>
          <a:solidFill>
            <a:srgbClr val="FDF5E2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73152" cy="4160520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645919"/>
            <a:ext cx="4782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69538"/>
                </a:solidFill>
                <a:latin typeface="DejaVu Sans"/>
              </a:defRPr>
            </a:pPr>
            <a:r>
              <a:t>Для православного психолога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057400"/>
            <a:ext cx="4782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0">
                <a:solidFill>
                  <a:srgbClr val="232F3E"/>
                </a:solidFill>
                <a:latin typeface="DejaVu Sans"/>
              </a:defRPr>
            </a:pPr>
            <a:r>
              <a:t>К профессиональному анализу добавляется внимание к духовному устроению, смирению, молитве, свободе клиента и недопустимости «спасательства» вместо ответственной помощи.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Евангельские опоры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Три акцента: соборность, трезвость, просвещение Духом Святым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3200400"/>
          </a:xfrm>
          <a:prstGeom prst="roundRect">
            <a:avLst/>
          </a:prstGeom>
          <a:solidFill>
            <a:srgbClr val="FDF5E2"/>
          </a:solidFill>
          <a:ln>
            <a:solidFill>
              <a:srgbClr val="F4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301752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E"/>
                </a:solidFill>
                <a:latin typeface="DejaVu Sans"/>
              </a:defRPr>
            </a:pPr>
            <a:r>
              <a:t>«ибо, где двое или трое собраны во имя Мое, там Я посреди них»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4074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C69538"/>
                </a:solidFill>
                <a:latin typeface="DejaVu Sans"/>
              </a:defRPr>
            </a:pPr>
            <a:r>
              <a:t>Мф. 18:20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554480"/>
            <a:ext cx="3474720" cy="3200400"/>
          </a:xfrm>
          <a:prstGeom prst="roundRect">
            <a:avLst/>
          </a:prstGeom>
          <a:solidFill>
            <a:srgbClr val="FDF5E2"/>
          </a:solidFill>
          <a:ln>
            <a:solidFill>
              <a:srgbClr val="F4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755648"/>
            <a:ext cx="301752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E"/>
                </a:solidFill>
                <a:latin typeface="DejaVu Sans"/>
              </a:defRPr>
            </a:pPr>
            <a:r>
              <a:t>«если слепой ведет слепого, то оба упадут в яму»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44074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C69538"/>
                </a:solidFill>
                <a:latin typeface="DejaVu Sans"/>
              </a:defRPr>
            </a:pPr>
            <a:r>
              <a:t>Мф. 15:14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554480"/>
            <a:ext cx="3474720" cy="3200400"/>
          </a:xfrm>
          <a:prstGeom prst="roundRect">
            <a:avLst/>
          </a:prstGeom>
          <a:solidFill>
            <a:srgbClr val="FDF5E2"/>
          </a:solidFill>
          <a:ln>
            <a:solidFill>
              <a:srgbClr val="F4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755648"/>
            <a:ext cx="301752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E"/>
                </a:solidFill>
                <a:latin typeface="DejaVu Sans"/>
              </a:defRPr>
            </a:pPr>
            <a:r>
              <a:t>«Утешитель же, Дух Святый... научит вас всему»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44074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C69538"/>
                </a:solidFill>
                <a:latin typeface="DejaVu Sans"/>
              </a:defRPr>
            </a:pPr>
            <a:r>
              <a:t>Ин. 14:26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Личность терапевта как инструмент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Супервизия помогает видеть, чем именно психолог работает в контакте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212080" cy="1828800"/>
          </a:xfrm>
          <a:prstGeom prst="roundRect">
            <a:avLst/>
          </a:prstGeom>
          <a:solidFill>
            <a:srgbClr val="FDF5E2"/>
          </a:solidFill>
          <a:ln>
            <a:solidFill>
              <a:srgbClr val="F4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18488"/>
            <a:ext cx="47548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E"/>
                </a:solidFill>
                <a:latin typeface="DejaVu Sans"/>
              </a:defRPr>
            </a:pPr>
            <a:r>
              <a:t>«Хороший терапевт не пользуется техниками, он применяет себя в и к ситуации...»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9864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C69538"/>
                </a:solidFill>
                <a:latin typeface="DejaVu Sans"/>
              </a:defRPr>
            </a:pPr>
            <a:r>
              <a:t>Лора Перлз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212080" cy="1828800"/>
          </a:xfrm>
          <a:prstGeom prst="roundRect">
            <a:avLst/>
          </a:prstGeom>
          <a:solidFill>
            <a:srgbClr val="FDF5E2"/>
          </a:solidFill>
          <a:ln>
            <a:solidFill>
              <a:srgbClr val="F4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18488"/>
            <a:ext cx="47548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E"/>
                </a:solidFill>
                <a:latin typeface="DejaVu Sans"/>
              </a:defRPr>
            </a:pPr>
            <a:r>
              <a:t>«Главное воздействие терапевта заключается не столько в его словах, сколько в его личности.»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9864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C69538"/>
                </a:solidFill>
                <a:latin typeface="DejaVu Sans"/>
              </a:defRPr>
            </a:pPr>
            <a:r>
              <a:t>Ролло Мэй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3794760"/>
            <a:ext cx="8001000" cy="1417320"/>
          </a:xfrm>
          <a:prstGeom prst="roundRect">
            <a:avLst/>
          </a:prstGeom>
          <a:solidFill>
            <a:srgbClr val="E6F4EC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3120" y="3794760"/>
            <a:ext cx="73152" cy="1417320"/>
          </a:xfrm>
          <a:prstGeom prst="rect">
            <a:avLst/>
          </a:prstGeom>
          <a:solidFill>
            <a:srgbClr val="498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2576" y="3931920"/>
            <a:ext cx="7616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8768"/>
                </a:solidFill>
                <a:latin typeface="DejaVu Sans"/>
              </a:defRPr>
            </a:pPr>
            <a:r>
              <a:t>Ключевой тезис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2576" y="4343400"/>
            <a:ext cx="7616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F3E"/>
                </a:solidFill>
                <a:latin typeface="DejaVu Sans"/>
              </a:defRPr>
            </a:pPr>
            <a:r>
              <a:t>Психолог работает «собой»: своим вниманием, телесностью, эмоциональной зрелостью, мышлением, отношениями и духовной ориентацией.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Цель супервизии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Укрепление специалиста и повышение качества помощи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561320" cy="205740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36192"/>
            <a:ext cx="73152" cy="205740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673351"/>
            <a:ext cx="10177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7598B"/>
                </a:solidFill>
                <a:latin typeface="DejaVu Sans"/>
              </a:defRPr>
            </a:pPr>
            <a:r>
              <a:t>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084831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F3E"/>
                </a:solidFill>
                <a:latin typeface="DejaVu Sans"/>
              </a:defRPr>
            </a:pPr>
            <a:r>
              <a:t>Укрепление на пути духовного и личностного роста, повышение качества профессиональной деятельности, безопасности клиента и развитие компетенций психолога через анализ практики с опытными коллегами и священником.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31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32F3E"/>
                </a:solidFill>
                <a:latin typeface="DejaVu Sans"/>
              </a:defRPr>
            </a:pPr>
            <a:r>
              <a:t>• молитвенная поддержка и духовная трезвость;</a:t>
            </a:r>
          </a:p>
          <a:p>
            <a:pPr>
              <a:spcAft>
                <a:spcPts val="800"/>
              </a:spcAft>
              <a:defRPr sz="1450">
                <a:solidFill>
                  <a:srgbClr val="232F3E"/>
                </a:solidFill>
                <a:latin typeface="DejaVu Sans"/>
              </a:defRPr>
            </a:pPr>
            <a:r>
              <a:t>• обучение и развитие профессионального мышления;</a:t>
            </a:r>
          </a:p>
          <a:p>
            <a:pPr>
              <a:spcAft>
                <a:spcPts val="800"/>
              </a:spcAft>
              <a:defRPr sz="1450">
                <a:solidFill>
                  <a:srgbClr val="232F3E"/>
                </a:solidFill>
                <a:latin typeface="DejaVu Sans"/>
              </a:defRPr>
            </a:pPr>
            <a:r>
              <a:t>• профилактика выгорания и профессиональной деформации;</a:t>
            </a:r>
          </a:p>
          <a:p>
            <a:pPr>
              <a:spcAft>
                <a:spcPts val="800"/>
              </a:spcAft>
              <a:defRPr sz="1450">
                <a:solidFill>
                  <a:srgbClr val="232F3E"/>
                </a:solidFill>
                <a:latin typeface="DejaVu Sans"/>
              </a:defRPr>
            </a:pPr>
            <a:r>
              <a:t>• контроль этических норм и границ ответственности.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Задачи супервизии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Семь направлений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971800" cy="1234440"/>
          </a:xfrm>
          <a:prstGeom prst="roundRect">
            <a:avLst/>
          </a:prstGeom>
          <a:solidFill>
            <a:srgbClr val="FDF5E2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5448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1">
                <a:solidFill>
                  <a:srgbClr val="C69538"/>
                </a:solidFill>
                <a:latin typeface="DejaVu Sans"/>
              </a:defRPr>
            </a:pPr>
            <a:r>
              <a:t>Духовная поддержка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965960"/>
            <a:ext cx="2587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Христоцентрирование и расширение понимания Промысла Божьего.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17320"/>
            <a:ext cx="2971800" cy="123444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73152" cy="123444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155448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1">
                <a:solidFill>
                  <a:srgbClr val="27598B"/>
                </a:solidFill>
                <a:latin typeface="DejaVu Sans"/>
              </a:defRPr>
            </a:pPr>
            <a:r>
              <a:t>Профессиональная поддержка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1965960"/>
            <a:ext cx="2587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Разбор случая, поиск подходов и поддержка специалиста.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417320"/>
            <a:ext cx="2971800" cy="1234440"/>
          </a:xfrm>
          <a:prstGeom prst="roundRect">
            <a:avLst/>
          </a:prstGeom>
          <a:solidFill>
            <a:srgbClr val="E6F4EC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417320"/>
            <a:ext cx="73152" cy="1234440"/>
          </a:xfrm>
          <a:prstGeom prst="rect">
            <a:avLst/>
          </a:prstGeom>
          <a:solidFill>
            <a:srgbClr val="498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8976" y="155448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1">
                <a:solidFill>
                  <a:srgbClr val="498768"/>
                </a:solidFill>
                <a:latin typeface="DejaVu Sans"/>
              </a:defRPr>
            </a:pPr>
            <a:r>
              <a:t>Обучение и развитие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6" y="1965960"/>
            <a:ext cx="2587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Православная антропология, психология, навыки и стиль.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63240"/>
            <a:ext cx="2971800" cy="1234440"/>
          </a:xfrm>
          <a:prstGeom prst="roundRect">
            <a:avLst/>
          </a:prstGeom>
          <a:solidFill>
            <a:srgbClr val="FAEBE8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063240"/>
            <a:ext cx="73152" cy="1234440"/>
          </a:xfrm>
          <a:prstGeom prst="rect">
            <a:avLst/>
          </a:prstGeom>
          <a:solidFill>
            <a:srgbClr val="A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20040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1">
                <a:solidFill>
                  <a:srgbClr val="A05252"/>
                </a:solidFill>
                <a:latin typeface="DejaVu Sans"/>
              </a:defRPr>
            </a:pPr>
            <a:r>
              <a:t>Контроль качества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611880"/>
            <a:ext cx="2587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Этика, эффективность и безопасность помощи.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063240"/>
            <a:ext cx="2971800" cy="123444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063240"/>
            <a:ext cx="73152" cy="123444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9976" y="320040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1">
                <a:solidFill>
                  <a:srgbClr val="27598B"/>
                </a:solidFill>
                <a:latin typeface="DejaVu Sans"/>
              </a:defRPr>
            </a:pPr>
            <a:r>
              <a:t>Профилактика выгорания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3611880"/>
            <a:ext cx="2587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Контрперенос, истощение, профессиональная деформация.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063240"/>
            <a:ext cx="2971800" cy="1234440"/>
          </a:xfrm>
          <a:prstGeom prst="roundRect">
            <a:avLst/>
          </a:prstGeom>
          <a:solidFill>
            <a:srgbClr val="E6F4EC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0" y="3063240"/>
            <a:ext cx="73152" cy="1234440"/>
          </a:xfrm>
          <a:prstGeom prst="rect">
            <a:avLst/>
          </a:prstGeom>
          <a:solidFill>
            <a:srgbClr val="498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08976" y="320040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1">
                <a:solidFill>
                  <a:srgbClr val="498768"/>
                </a:solidFill>
                <a:latin typeface="DejaVu Sans"/>
              </a:defRPr>
            </a:pPr>
            <a:r>
              <a:t>Развитие осознанности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8976" y="3611880"/>
            <a:ext cx="2587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Собственные процессы, реакции и перенос терапевта.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0" y="4709160"/>
            <a:ext cx="2971800" cy="1234440"/>
          </a:xfrm>
          <a:prstGeom prst="roundRect">
            <a:avLst/>
          </a:prstGeom>
          <a:solidFill>
            <a:srgbClr val="FDF5E2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68880" y="4709160"/>
            <a:ext cx="73152" cy="1234440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88336" y="484632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1">
                <a:solidFill>
                  <a:srgbClr val="C69538"/>
                </a:solidFill>
                <a:latin typeface="DejaVu Sans"/>
              </a:defRPr>
            </a:pPr>
            <a:r>
              <a:t>Безопасность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88336" y="5257800"/>
            <a:ext cx="2587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Позиция специалиста без «спасательства».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Варианты, уровни и формы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Организация супервизионной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429000" cy="438912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438912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554480"/>
            <a:ext cx="3044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598B"/>
                </a:solidFill>
                <a:latin typeface="DejaVu Sans"/>
              </a:defRPr>
            </a:pPr>
            <a:r>
              <a:t>Варианты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1965960"/>
            <a:ext cx="30449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E"/>
                </a:solidFill>
                <a:latin typeface="DejaVu Sans"/>
              </a:defRPr>
            </a:pPr>
            <a:r>
              <a:t>• соборная молитва</a:t>
            </a:r>
            <a:br/>
            <a:r>
              <a:t>• индивидуальная</a:t>
            </a:r>
            <a:br/>
            <a:r>
              <a:t>• групповая</a:t>
            </a:r>
            <a:br/>
            <a:r>
              <a:t>• балинтовские группы</a:t>
            </a:r>
            <a:br/>
            <a:r>
              <a:t>• семейная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4389120"/>
          </a:xfrm>
          <a:prstGeom prst="roundRect">
            <a:avLst/>
          </a:prstGeom>
          <a:solidFill>
            <a:srgbClr val="FDF5E2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4389120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554480"/>
            <a:ext cx="3044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69538"/>
                </a:solidFill>
                <a:latin typeface="DejaVu Sans"/>
              </a:defRPr>
            </a:pPr>
            <a:r>
              <a:t>Уровни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965960"/>
            <a:ext cx="30449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20" b="0">
                <a:solidFill>
                  <a:srgbClr val="232F3E"/>
                </a:solidFill>
                <a:latin typeface="DejaVu Sans"/>
              </a:defRPr>
            </a:pPr>
            <a:r>
              <a:t>• для новоначальных христиан</a:t>
            </a:r>
            <a:br/>
            <a:r>
              <a:t>• для молодых психологов</a:t>
            </a:r>
            <a:br/>
            <a:r>
              <a:t>• для практикующих коллег</a:t>
            </a:r>
            <a:br/>
            <a:r>
              <a:t>• принятие мнения другого со смирением и мудростью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17320"/>
            <a:ext cx="3429000" cy="4389120"/>
          </a:xfrm>
          <a:prstGeom prst="roundRect">
            <a:avLst/>
          </a:prstGeom>
          <a:solidFill>
            <a:srgbClr val="E6F4EC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417320"/>
            <a:ext cx="73152" cy="4389120"/>
          </a:xfrm>
          <a:prstGeom prst="rect">
            <a:avLst/>
          </a:prstGeom>
          <a:solidFill>
            <a:srgbClr val="498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554480"/>
            <a:ext cx="3044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8768"/>
                </a:solidFill>
                <a:latin typeface="DejaVu Sans"/>
              </a:defRPr>
            </a:pPr>
            <a:r>
              <a:t>Формы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1965960"/>
            <a:ext cx="30449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20" b="0">
                <a:solidFill>
                  <a:srgbClr val="232F3E"/>
                </a:solidFill>
                <a:latin typeface="DejaVu Sans"/>
              </a:defRPr>
            </a:pPr>
            <a:r>
              <a:t>• очная: в процессе сессии</a:t>
            </a:r>
            <a:br/>
            <a:r>
              <a:t>• заочная: обсуждение случая в кругу коллег</a:t>
            </a:r>
            <a:br/>
            <a:r>
              <a:t>• очно-заочная: частичное включение и последующий разбор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Шестифокусная модель супервизии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Классическая карта внимания супервизора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57800" y="2926080"/>
            <a:ext cx="1645920" cy="100584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C69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3209544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C69538"/>
                </a:solidFill>
                <a:latin typeface="DejaVu Sans"/>
              </a:defRPr>
            </a:pPr>
            <a:r>
              <a:t>случай</a:t>
            </a:r>
            <a:br/>
            <a:r>
              <a:t>клиента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261872"/>
            <a:ext cx="1920240" cy="768096"/>
          </a:xfrm>
          <a:prstGeom prst="roundRect">
            <a:avLst/>
          </a:prstGeom>
          <a:solidFill>
            <a:srgbClr val="E2EF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66360" y="1380744"/>
            <a:ext cx="292608" cy="292608"/>
          </a:xfrm>
          <a:prstGeom prst="ellipse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1421892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0408" y="1426464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232F3E"/>
                </a:solidFill>
                <a:latin typeface="DejaVu Sans"/>
              </a:defRPr>
            </a:pPr>
            <a:r>
              <a:t>клиент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80760" y="1645920"/>
            <a:ext cx="0" cy="1783080"/>
          </a:xfrm>
          <a:prstGeom prst="line">
            <a:avLst/>
          </a:prstGeom>
          <a:ln w="12700">
            <a:solidFill>
              <a:srgbClr val="D4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55279" y="2039112"/>
            <a:ext cx="1920240" cy="768096"/>
          </a:xfrm>
          <a:prstGeom prst="roundRect">
            <a:avLst/>
          </a:prstGeom>
          <a:solidFill>
            <a:srgbClr val="E2EF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01000" y="2157984"/>
            <a:ext cx="292608" cy="292608"/>
          </a:xfrm>
          <a:prstGeom prst="ellipse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5864" y="2199132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203704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232F3E"/>
                </a:solidFill>
                <a:latin typeface="DejaVu Sans"/>
              </a:defRPr>
            </a:pPr>
            <a:r>
              <a:t>терапевт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080760" y="2423160"/>
            <a:ext cx="2834640" cy="1005840"/>
          </a:xfrm>
          <a:prstGeom prst="line">
            <a:avLst/>
          </a:prstGeom>
          <a:ln w="12700">
            <a:solidFill>
              <a:srgbClr val="D4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55279" y="4142232"/>
            <a:ext cx="1920240" cy="768096"/>
          </a:xfrm>
          <a:prstGeom prst="roundRect">
            <a:avLst/>
          </a:prstGeom>
          <a:solidFill>
            <a:srgbClr val="E2EF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01000" y="4261104"/>
            <a:ext cx="292608" cy="292608"/>
          </a:xfrm>
          <a:prstGeom prst="ellipse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5864" y="4302252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306824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232F3E"/>
                </a:solidFill>
                <a:latin typeface="DejaVu Sans"/>
              </a:defRPr>
            </a:pPr>
            <a:r>
              <a:t>отношения</a:t>
            </a:r>
            <a:br/>
            <a:r>
              <a:t>клиент-терапевт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3429000"/>
            <a:ext cx="2834640" cy="1097280"/>
          </a:xfrm>
          <a:prstGeom prst="line">
            <a:avLst/>
          </a:prstGeom>
          <a:ln w="12700">
            <a:solidFill>
              <a:srgbClr val="D4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20640" y="4965192"/>
            <a:ext cx="1920240" cy="768096"/>
          </a:xfrm>
          <a:prstGeom prst="roundRect">
            <a:avLst/>
          </a:prstGeom>
          <a:solidFill>
            <a:srgbClr val="E2EF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66360" y="5084064"/>
            <a:ext cx="292608" cy="292608"/>
          </a:xfrm>
          <a:prstGeom prst="ellipse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1224" y="5125212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8" y="5129783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232F3E"/>
                </a:solidFill>
                <a:latin typeface="DejaVu Sans"/>
              </a:defRPr>
            </a:pPr>
            <a:r>
              <a:t>состояние</a:t>
            </a:r>
            <a:br/>
            <a:r>
              <a:t>супервизируемого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3429000"/>
            <a:ext cx="0" cy="1920240"/>
          </a:xfrm>
          <a:prstGeom prst="line">
            <a:avLst/>
          </a:prstGeom>
          <a:ln w="12700">
            <a:solidFill>
              <a:srgbClr val="D4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286000" y="4142232"/>
            <a:ext cx="1920240" cy="768096"/>
          </a:xfrm>
          <a:prstGeom prst="roundRect">
            <a:avLst/>
          </a:prstGeom>
          <a:solidFill>
            <a:srgbClr val="E2EF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331720" y="4261104"/>
            <a:ext cx="292608" cy="292608"/>
          </a:xfrm>
          <a:prstGeom prst="ellipse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86584" y="4302252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DejaVu San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4306824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232F3E"/>
                </a:solidFill>
                <a:latin typeface="DejaVu Sans"/>
              </a:defRPr>
            </a:pPr>
            <a:r>
              <a:t>отношения</a:t>
            </a:r>
            <a:br/>
            <a:r>
              <a:t>терапевт-супервизор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246120" y="3429000"/>
            <a:ext cx="2834640" cy="1097280"/>
          </a:xfrm>
          <a:prstGeom prst="line">
            <a:avLst/>
          </a:prstGeom>
          <a:ln w="12700">
            <a:solidFill>
              <a:srgbClr val="D4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286000" y="2039112"/>
            <a:ext cx="1920240" cy="768096"/>
          </a:xfrm>
          <a:prstGeom prst="roundRect">
            <a:avLst/>
          </a:prstGeom>
          <a:solidFill>
            <a:srgbClr val="E2EF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331720" y="2157984"/>
            <a:ext cx="292608" cy="292608"/>
          </a:xfrm>
          <a:prstGeom prst="ellipse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6584" y="2199132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15768" y="2203704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232F3E"/>
                </a:solidFill>
                <a:latin typeface="DejaVu Sans"/>
              </a:defRPr>
            </a:pPr>
            <a:r>
              <a:t>состояние</a:t>
            </a:r>
            <a:br/>
            <a:r>
              <a:t>супервизора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3246120" y="2423160"/>
            <a:ext cx="2834640" cy="1005840"/>
          </a:xfrm>
          <a:prstGeom prst="line">
            <a:avLst/>
          </a:prstGeom>
          <a:ln w="12700">
            <a:solidFill>
              <a:srgbClr val="D4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Седьмой фокус: отношения с Богом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Предложение для православной супервизии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828800" y="1593799"/>
            <a:ext cx="0" cy="652881"/>
          </a:xfrm>
          <a:prstGeom prst="line">
            <a:avLst/>
          </a:prstGeom>
          <a:ln w="38100">
            <a:solidFill>
              <a:srgbClr val="C69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18945" y="1826971"/>
            <a:ext cx="419709" cy="0"/>
          </a:xfrm>
          <a:prstGeom prst="line">
            <a:avLst/>
          </a:prstGeom>
          <a:ln w="38100">
            <a:solidFill>
              <a:srgbClr val="C69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8488" y="2633472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69538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353312"/>
            <a:ext cx="8366760" cy="2057400"/>
          </a:xfrm>
          <a:prstGeom prst="roundRect">
            <a:avLst/>
          </a:prstGeom>
          <a:solidFill>
            <a:srgbClr val="FDF5E2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1353312"/>
            <a:ext cx="73152" cy="2057400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5" y="1490472"/>
            <a:ext cx="7982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69538"/>
                </a:solidFill>
                <a:latin typeface="DejaVu Sans"/>
              </a:defRPr>
            </a:pPr>
            <a:r>
              <a:t>Дополнительный фокус внимания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815" y="1901952"/>
            <a:ext cx="7982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20" b="0">
                <a:solidFill>
                  <a:srgbClr val="232F3E"/>
                </a:solidFill>
                <a:latin typeface="DejaVu Sans"/>
              </a:defRPr>
            </a:pPr>
            <a:r>
              <a:t>Как терапевт, клиент и супервизионная группа соотносят происходящее с Богом: молитва, свобода, смирение, ответственность, различение духовного и психологического, избегание самовольного «знания воли Божией» за клиента.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794760"/>
            <a:ext cx="8001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232F3E"/>
                </a:solidFill>
                <a:latin typeface="DejaVu Sans"/>
              </a:defRPr>
            </a:pPr>
            <a:r>
              <a:t>• Не подмена профессионального анализа духовными объяснениями.</a:t>
            </a:r>
          </a:p>
          <a:p>
            <a:pPr>
              <a:spcAft>
                <a:spcPts val="800"/>
              </a:spcAft>
              <a:defRPr sz="1320">
                <a:solidFill>
                  <a:srgbClr val="232F3E"/>
                </a:solidFill>
                <a:latin typeface="DejaVu Sans"/>
              </a:defRPr>
            </a:pPr>
            <a:r>
              <a:t>• Не давление на клиента религиозным языком или авторитетом.</a:t>
            </a:r>
          </a:p>
          <a:p>
            <a:pPr>
              <a:spcAft>
                <a:spcPts val="800"/>
              </a:spcAft>
              <a:defRPr sz="1320">
                <a:solidFill>
                  <a:srgbClr val="232F3E"/>
                </a:solidFill>
                <a:latin typeface="DejaVu Sans"/>
              </a:defRPr>
            </a:pPr>
            <a:r>
              <a:t>• Различение: где моя тревога, где контрперенос, где нравственная граница, где молитвенное прошение о помощи.</a:t>
            </a:r>
          </a:p>
          <a:p>
            <a:pPr>
              <a:spcAft>
                <a:spcPts val="800"/>
              </a:spcAft>
              <a:defRPr sz="1320">
                <a:solidFill>
                  <a:srgbClr val="232F3E"/>
                </a:solidFill>
                <a:latin typeface="DejaVu Sans"/>
              </a:defRPr>
            </a:pPr>
            <a:r>
              <a:t>• Позиция: «не мы, но через нас Господь помогает».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Пентаграмма Гингера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Пять измерений личности как подсказка для супервизионного вопроса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3657600" y="1874519"/>
            <a:ext cx="1074941" cy="3308331"/>
          </a:xfrm>
          <a:prstGeom prst="line">
            <a:avLst/>
          </a:prstGeom>
          <a:ln w="21590">
            <a:solidFill>
              <a:srgbClr val="D4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1918307" y="3138189"/>
            <a:ext cx="2814234" cy="2044661"/>
          </a:xfrm>
          <a:prstGeom prst="line">
            <a:avLst/>
          </a:prstGeom>
          <a:ln w="21590">
            <a:solidFill>
              <a:srgbClr val="D4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18307" y="3138189"/>
            <a:ext cx="3478585" cy="0"/>
          </a:xfrm>
          <a:prstGeom prst="line">
            <a:avLst/>
          </a:prstGeom>
          <a:ln w="21590">
            <a:solidFill>
              <a:srgbClr val="D4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582658" y="3138189"/>
            <a:ext cx="2814234" cy="2044661"/>
          </a:xfrm>
          <a:prstGeom prst="line">
            <a:avLst/>
          </a:prstGeom>
          <a:ln w="21590">
            <a:solidFill>
              <a:srgbClr val="D4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582658" y="1874519"/>
            <a:ext cx="1074942" cy="3308331"/>
          </a:xfrm>
          <a:prstGeom prst="line">
            <a:avLst/>
          </a:prstGeom>
          <a:ln w="21590">
            <a:solidFill>
              <a:srgbClr val="D4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227832" y="1444751"/>
            <a:ext cx="859536" cy="859536"/>
          </a:xfrm>
          <a:prstGeom prst="ellipse">
            <a:avLst/>
          </a:prstGeom>
          <a:solidFill>
            <a:srgbClr val="FDF5E2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173736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60" b="1">
                <a:solidFill>
                  <a:srgbClr val="C69538"/>
                </a:solidFill>
                <a:latin typeface="DejaVu Sans"/>
              </a:defRPr>
            </a:pPr>
            <a:r>
              <a:t>Духовное</a:t>
            </a:r>
          </a:p>
        </p:txBody>
      </p:sp>
      <p:sp>
        <p:nvSpPr>
          <p:cNvPr id="12" name="Oval 11"/>
          <p:cNvSpPr/>
          <p:nvPr/>
        </p:nvSpPr>
        <p:spPr>
          <a:xfrm>
            <a:off x="4967124" y="2708421"/>
            <a:ext cx="859536" cy="859536"/>
          </a:xfrm>
          <a:prstGeom prst="ellipse">
            <a:avLst/>
          </a:prstGeom>
          <a:solidFill>
            <a:srgbClr val="E2EFFA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9964" y="3001029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60" b="1">
                <a:solidFill>
                  <a:srgbClr val="27598B"/>
                </a:solidFill>
                <a:latin typeface="DejaVu Sans"/>
              </a:defRPr>
            </a:pPr>
            <a:r>
              <a:t>Когнитивное</a:t>
            </a:r>
          </a:p>
        </p:txBody>
      </p:sp>
      <p:sp>
        <p:nvSpPr>
          <p:cNvPr id="14" name="Oval 13"/>
          <p:cNvSpPr/>
          <p:nvPr/>
        </p:nvSpPr>
        <p:spPr>
          <a:xfrm>
            <a:off x="4302773" y="4753082"/>
            <a:ext cx="859536" cy="859536"/>
          </a:xfrm>
          <a:prstGeom prst="ellipse">
            <a:avLst/>
          </a:prstGeom>
          <a:solidFill>
            <a:srgbClr val="E6F4EC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5613" y="504569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60" b="1">
                <a:solidFill>
                  <a:srgbClr val="498768"/>
                </a:solidFill>
                <a:latin typeface="DejaVu Sans"/>
              </a:defRPr>
            </a:pPr>
            <a:r>
              <a:t>Социальное</a:t>
            </a:r>
          </a:p>
        </p:txBody>
      </p:sp>
      <p:sp>
        <p:nvSpPr>
          <p:cNvPr id="16" name="Oval 15"/>
          <p:cNvSpPr/>
          <p:nvPr/>
        </p:nvSpPr>
        <p:spPr>
          <a:xfrm>
            <a:off x="2152890" y="4753082"/>
            <a:ext cx="859536" cy="859536"/>
          </a:xfrm>
          <a:prstGeom prst="ellipse">
            <a:avLst/>
          </a:prstGeom>
          <a:solidFill>
            <a:srgbClr val="FAEBE8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5730" y="504569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60" b="1">
                <a:solidFill>
                  <a:srgbClr val="A05252"/>
                </a:solidFill>
                <a:latin typeface="DejaVu Sans"/>
              </a:defRPr>
            </a:pPr>
            <a:r>
              <a:t>Телесное</a:t>
            </a:r>
          </a:p>
        </p:txBody>
      </p:sp>
      <p:sp>
        <p:nvSpPr>
          <p:cNvPr id="18" name="Oval 17"/>
          <p:cNvSpPr/>
          <p:nvPr/>
        </p:nvSpPr>
        <p:spPr>
          <a:xfrm>
            <a:off x="1488539" y="2708421"/>
            <a:ext cx="859536" cy="859536"/>
          </a:xfrm>
          <a:prstGeom prst="ellipse">
            <a:avLst/>
          </a:prstGeom>
          <a:solidFill>
            <a:srgbClr val="F1EAFA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1379" y="3001029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60" b="1">
                <a:solidFill>
                  <a:srgbClr val="7D56AA"/>
                </a:solidFill>
                <a:latin typeface="DejaVu Sans"/>
              </a:defRPr>
            </a:pPr>
            <a:r>
              <a:t>Эмоциональное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572768"/>
            <a:ext cx="4892040" cy="4251960"/>
          </a:xfrm>
          <a:prstGeom prst="roundRect">
            <a:avLst/>
          </a:prstGeom>
          <a:solidFill>
            <a:srgbClr val="E6F4EC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1572768"/>
            <a:ext cx="73152" cy="4251960"/>
          </a:xfrm>
          <a:prstGeom prst="rect">
            <a:avLst/>
          </a:prstGeom>
          <a:solidFill>
            <a:srgbClr val="498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7416" y="1709928"/>
            <a:ext cx="4507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8768"/>
                </a:solidFill>
                <a:latin typeface="DejaVu Sans"/>
              </a:defRPr>
            </a:pPr>
            <a:r>
              <a:t>Как использовать в разборе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7416" y="2121408"/>
            <a:ext cx="450799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232F3E"/>
                </a:solidFill>
                <a:latin typeface="DejaVu Sans"/>
              </a:defRPr>
            </a:pPr>
            <a:r>
              <a:t>В каждом случае можно проверять, какой уровень выпадает из внимания: телесный, эмоциональный, когнитивный, социальный или духовный. Для православной супервизии духовное измерение не растворяет остальные, а помогает собрать их в целостный взгляд на человека.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Семифокусная карта случая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Практические вопросы для супервизии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4983480" cy="86868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73152" cy="86868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508760"/>
            <a:ext cx="4599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27598B"/>
                </a:solidFill>
                <a:latin typeface="DejaVu Sans"/>
              </a:defRPr>
            </a:pPr>
            <a:r>
              <a:t>1. Клиент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1920240"/>
            <a:ext cx="459943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Что происходит с клиентом? Каков запрос, страдание, ресурс, риск?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4983480" cy="86868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73152" cy="86868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651760"/>
            <a:ext cx="4599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27598B"/>
                </a:solidFill>
                <a:latin typeface="DejaVu Sans"/>
              </a:defRPr>
            </a:pPr>
            <a:r>
              <a:t>2. Терапевт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3063240"/>
            <a:ext cx="459943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Какая гипотеза, стратегия, техника и профессиональная позиция?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57600"/>
            <a:ext cx="4983480" cy="86868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657600"/>
            <a:ext cx="73152" cy="86868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3794760"/>
            <a:ext cx="4599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27598B"/>
                </a:solidFill>
                <a:latin typeface="DejaVu Sans"/>
              </a:defRPr>
            </a:pPr>
            <a:r>
              <a:t>3. Процесс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" y="4206240"/>
            <a:ext cx="459943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Что рождается между клиентом и терапевтом прямо сейчас?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00600"/>
            <a:ext cx="4983480" cy="86868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0600"/>
            <a:ext cx="73152" cy="86868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" y="4937760"/>
            <a:ext cx="4599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27598B"/>
                </a:solidFill>
                <a:latin typeface="DejaVu Sans"/>
              </a:defRPr>
            </a:pPr>
            <a:r>
              <a:t>4. Супервизируемый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5349240"/>
            <a:ext cx="459943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Какие чувства, телесные реакции, страхи и переносы у терапевта?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371600"/>
            <a:ext cx="4983480" cy="86868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371600"/>
            <a:ext cx="73152" cy="86868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1508760"/>
            <a:ext cx="4599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27598B"/>
                </a:solidFill>
                <a:latin typeface="DejaVu Sans"/>
              </a:defRPr>
            </a:pPr>
            <a:r>
              <a:t>5. Отношения с супервизором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1920240"/>
            <a:ext cx="459943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Что повторяется в супервизии из клиентского процесса?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514600"/>
            <a:ext cx="4983480" cy="86868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2514600"/>
            <a:ext cx="73152" cy="86868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2651760"/>
            <a:ext cx="4599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27598B"/>
                </a:solidFill>
                <a:latin typeface="DejaVu Sans"/>
              </a:defRPr>
            </a:pPr>
            <a:r>
              <a:t>6. Супервизор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4536" y="3063240"/>
            <a:ext cx="459943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Какие реакции и гипотезы возникают у супервизора?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657600"/>
            <a:ext cx="4983480" cy="868680"/>
          </a:xfrm>
          <a:prstGeom prst="roundRect">
            <a:avLst/>
          </a:prstGeom>
          <a:solidFill>
            <a:srgbClr val="FDF5E2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657600"/>
            <a:ext cx="73152" cy="868680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74536" y="3794760"/>
            <a:ext cx="4599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C69538"/>
                </a:solidFill>
                <a:latin typeface="DejaVu Sans"/>
              </a:defRPr>
            </a:pPr>
            <a:r>
              <a:t>7. Бог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4536" y="4206240"/>
            <a:ext cx="459943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0">
                <a:solidFill>
                  <a:srgbClr val="232F3E"/>
                </a:solidFill>
                <a:latin typeface="DejaVu Sans"/>
              </a:defRPr>
            </a:pPr>
            <a:r>
              <a:t>Где место молитвы, смирения, свободы и Промысла Божьего?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7598B"/>
                </a:solidFill>
                <a:latin typeface="DejaVu Sans"/>
              </a:defRPr>
            </a:pPr>
            <a: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B6876"/>
                </a:solidFill>
                <a:latin typeface="DejaVu Sans"/>
              </a:defRPr>
            </a:pPr>
            <a:r>
              <a:t>Супервизия как пространство соборного различения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16152"/>
            <a:ext cx="1965960" cy="27432"/>
          </a:xfrm>
          <a:prstGeom prst="rect">
            <a:avLst/>
          </a:prstGeom>
          <a:solidFill>
            <a:srgbClr val="C69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00200"/>
            <a:ext cx="10287000" cy="2834640"/>
          </a:xfrm>
          <a:prstGeom prst="roundRect">
            <a:avLst/>
          </a:prstGeom>
          <a:solidFill>
            <a:srgbClr val="E2EFFA"/>
          </a:solidFill>
          <a:ln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600200"/>
            <a:ext cx="73152" cy="2834640"/>
          </a:xfrm>
          <a:prstGeom prst="rect">
            <a:avLst/>
          </a:prstGeom>
          <a:solidFill>
            <a:srgbClr val="27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737360"/>
            <a:ext cx="9902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598B"/>
                </a:solidFill>
                <a:latin typeface="DejaVu Sans"/>
              </a:defRPr>
            </a:pPr>
            <a:r>
              <a:t>Семифокусная 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2148840"/>
            <a:ext cx="990295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F3E"/>
                </a:solidFill>
                <a:latin typeface="DejaVu Sans"/>
              </a:defRPr>
            </a:pPr>
            <a:r>
              <a:t>Сохраняет профессиональную строгость шестифокусной супервизии и добавляет православному психологу явный фокус на отношениях с Богом: молитвенное внимание, смирение, свободу, ответственность и любовь к клиенту без нарушения границ.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0060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C69538"/>
                </a:solidFill>
                <a:latin typeface="DejaVu Sans"/>
              </a:defRPr>
            </a:pPr>
            <a:r>
              <a:t>Практический вектор: качество помощи + безопасность клиента + духовная трезвость специалиста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0272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6"/>
                </a:solidFill>
                <a:latin typeface="DejaVu San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